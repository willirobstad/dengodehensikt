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29cd6c64414dc0" /><Relationship Type="http://schemas.openxmlformats.org/officeDocument/2006/relationships/extended-properties" Target="/docProps/app.xml" Id="R8b37a78f1abc4d36" /><Relationship Type="http://schemas.openxmlformats.org/officeDocument/2006/relationships/officeDocument" Target="/ppt/presentation.xml" Id="R5bc95ee466ed41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f8a4f4428a4efc"/>
  </p:sldMasterIdLst>
  <p:notesMasterIdLst>
    <p:notesMasterId xmlns:r="http://schemas.openxmlformats.org/officeDocument/2006/relationships" r:id="R66ab08db02e54c34"/>
  </p:notesMasterIdLst>
  <p:sldIdLst>
    <p:sldId xmlns:r="http://schemas.openxmlformats.org/officeDocument/2006/relationships" id="256" r:id="Rf4a5f8c3f3bd4584"/>
    <p:sldId xmlns:r="http://schemas.openxmlformats.org/officeDocument/2006/relationships" id="257" r:id="R5913bcbe1f9d42ca"/>
    <p:sldId xmlns:r="http://schemas.openxmlformats.org/officeDocument/2006/relationships" id="258" r:id="Re38b2e6cb6fd4860"/>
    <p:sldId xmlns:r="http://schemas.openxmlformats.org/officeDocument/2006/relationships" id="259" r:id="R76d1dc8d95584921"/>
    <p:sldId xmlns:r="http://schemas.openxmlformats.org/officeDocument/2006/relationships" id="260" r:id="R9e09dfafc7cd42ba"/>
    <p:sldId xmlns:r="http://schemas.openxmlformats.org/officeDocument/2006/relationships" id="261" r:id="Rc9052cc027764f56"/>
    <p:sldId xmlns:r="http://schemas.openxmlformats.org/officeDocument/2006/relationships" id="262" r:id="Rbe3451508d4a4ccc"/>
    <p:sldId xmlns:r="http://schemas.openxmlformats.org/officeDocument/2006/relationships" id="263" r:id="R7b0bca2e4d5848e5"/>
    <p:sldId xmlns:r="http://schemas.openxmlformats.org/officeDocument/2006/relationships" id="264" r:id="Rfce3afd788ac484f"/>
    <p:sldId xmlns:r="http://schemas.openxmlformats.org/officeDocument/2006/relationships" id="265" r:id="R2b6b9ed2e024437c"/>
    <p:sldId xmlns:r="http://schemas.openxmlformats.org/officeDocument/2006/relationships" id="266" r:id="R17d7f37507b64ec2"/>
    <p:sldId xmlns:r="http://schemas.openxmlformats.org/officeDocument/2006/relationships" id="267" r:id="Rf7a013ff73d24a48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0175cbad194dcd" /><Relationship Type="http://schemas.openxmlformats.org/officeDocument/2006/relationships/slideMaster" Target="/ppt/slideMasters/slideMaster1.xml" Id="Rf9f8a4f4428a4efc" /><Relationship Type="http://schemas.openxmlformats.org/officeDocument/2006/relationships/notesMaster" Target="/ppt/notesMasters/notesMaster1.xml" Id="R66ab08db02e54c34" /><Relationship Type="http://schemas.openxmlformats.org/officeDocument/2006/relationships/presProps" Target="/ppt/presProps.xml" Id="R4351da3e8dd34954" /><Relationship Type="http://schemas.openxmlformats.org/officeDocument/2006/relationships/viewProps" Target="/ppt/viewProps.xml" Id="R273616b3593249ce" /><Relationship Type="http://schemas.openxmlformats.org/officeDocument/2006/relationships/tableStyles" Target="/ppt/tableStyles.xml" Id="Rca05250bc7c840d5" /><Relationship Type="http://schemas.openxmlformats.org/officeDocument/2006/relationships/slide" Target="/ppt/slides/slide1.xml" Id="Rf4a5f8c3f3bd4584" /><Relationship Type="http://schemas.openxmlformats.org/officeDocument/2006/relationships/slide" Target="/ppt/slides/slide2.xml" Id="R5913bcbe1f9d42ca" /><Relationship Type="http://schemas.openxmlformats.org/officeDocument/2006/relationships/slide" Target="/ppt/slides/slide3.xml" Id="Re38b2e6cb6fd4860" /><Relationship Type="http://schemas.openxmlformats.org/officeDocument/2006/relationships/slide" Target="/ppt/slides/slide4.xml" Id="R76d1dc8d95584921" /><Relationship Type="http://schemas.openxmlformats.org/officeDocument/2006/relationships/slide" Target="/ppt/slides/slide5.xml" Id="R9e09dfafc7cd42ba" /><Relationship Type="http://schemas.openxmlformats.org/officeDocument/2006/relationships/slide" Target="/ppt/slides/slide6.xml" Id="Rc9052cc027764f56" /><Relationship Type="http://schemas.openxmlformats.org/officeDocument/2006/relationships/slide" Target="/ppt/slides/slide7.xml" Id="Rbe3451508d4a4ccc" /><Relationship Type="http://schemas.openxmlformats.org/officeDocument/2006/relationships/slide" Target="/ppt/slides/slide8.xml" Id="R7b0bca2e4d5848e5" /><Relationship Type="http://schemas.openxmlformats.org/officeDocument/2006/relationships/slide" Target="/ppt/slides/slide9.xml" Id="Rfce3afd788ac484f" /><Relationship Type="http://schemas.openxmlformats.org/officeDocument/2006/relationships/slide" Target="/ppt/slides/slide10.xml" Id="R2b6b9ed2e024437c" /><Relationship Type="http://schemas.openxmlformats.org/officeDocument/2006/relationships/slide" Target="/ppt/slides/slide11.xml" Id="R17d7f37507b64ec2" /><Relationship Type="http://schemas.openxmlformats.org/officeDocument/2006/relationships/slide" Target="/ppt/slides/slide12.xml" Id="Rf7a013ff73d24a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689ad461ad49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1453a66a684d0c" /><Relationship Type="http://schemas.openxmlformats.org/officeDocument/2006/relationships/notesMaster" Target="/ppt/notesMasters/notesMaster1.xml" Id="R8c40068a29a947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e859525d924535" /><Relationship Type="http://schemas.openxmlformats.org/officeDocument/2006/relationships/notesMaster" Target="/ppt/notesMasters/notesMaster1.xml" Id="Re5ff3134483843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345f8f8e0d4c45" /><Relationship Type="http://schemas.openxmlformats.org/officeDocument/2006/relationships/notesMaster" Target="/ppt/notesMasters/notesMaster1.xml" Id="R3cab7621524947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bcf4069612429b" /><Relationship Type="http://schemas.openxmlformats.org/officeDocument/2006/relationships/notesMaster" Target="/ppt/notesMasters/notesMaster1.xml" Id="R77f248fcc4214e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d0304803c940de" /><Relationship Type="http://schemas.openxmlformats.org/officeDocument/2006/relationships/notesMaster" Target="/ppt/notesMasters/notesMaster1.xml" Id="R7b95b47b60844d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dff5d506614187" /><Relationship Type="http://schemas.openxmlformats.org/officeDocument/2006/relationships/notesMaster" Target="/ppt/notesMasters/notesMaster1.xml" Id="Rb685b3cfe4344f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0abc1988794993" /><Relationship Type="http://schemas.openxmlformats.org/officeDocument/2006/relationships/notesMaster" Target="/ppt/notesMasters/notesMaster1.xml" Id="Refeb42adf28a44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44c0f4b2eb4e29" /><Relationship Type="http://schemas.openxmlformats.org/officeDocument/2006/relationships/notesMaster" Target="/ppt/notesMasters/notesMaster1.xml" Id="R82acb33e410b45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4a427b9dd148fe" /><Relationship Type="http://schemas.openxmlformats.org/officeDocument/2006/relationships/notesMaster" Target="/ppt/notesMasters/notesMaster1.xml" Id="Reeec32916b8348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fe7fa178e04788" /><Relationship Type="http://schemas.openxmlformats.org/officeDocument/2006/relationships/notesMaster" Target="/ppt/notesMasters/notesMaster1.xml" Id="R294dd0e69c5b470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e0e24f25f94ea1" /><Relationship Type="http://schemas.openxmlformats.org/officeDocument/2006/relationships/notesMaster" Target="/ppt/notesMasters/notesMaster1.xml" Id="R5c4af75bf11541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b3350e5b58c4982" /><Relationship Type="http://schemas.openxmlformats.org/officeDocument/2006/relationships/notesMaster" Target="/ppt/notesMasters/notesMaster1.xml" Id="R6412b32d093b4d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aea15e96ad472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c14a8ab23449e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4186ff0596498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d2d78dfb254c3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238d519aa04c4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f57bcc6a204f9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061518baa7469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ce5d73db0d48f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11482be4604b1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1eb93c208e4e9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1a656a5775498d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40E4DADB-7DF3-470F-AB8E-88A4175CFC0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EFED83F6-DE44-4804-BCDB-754FBF5D715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33559E9D-F223-443F-BDA5-628956F6B5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B9134D93-0FFD-48F6-AB66-CAF9694534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00C1CAFB-5D37-4A97-829D-80704893A3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3E94530B-4D28-4A30-995F-BCB7501088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C6C3579B-9922-4921-9AEA-1BBA00988D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16126BA7-1FB6-430D-A7C3-7B01FE6FB4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4DE22D8B-6A63-4215-8C29-ABCF8FAA04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806792DC-68B9-4C87-A40A-B390351734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41C5C392-228C-4DFA-8A72-A0A51DFE10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522D363D-5D5C-4A56-8598-44BDD826C7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4F5B7B3B-DC79-4892-8ACF-70F9F4E164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D3B39C91-2F4D-46DA-8385-EF98F66FEA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90E9B638-48C3-4062-BD60-C03E9115A9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33F8A2ED-7C81-4B13-8A1F-FF02AB3177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71CEB2FB-5D06-4F2C-B197-C7C8ED6DAB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9957FB6A-6749-41DB-A3EF-31803D64F5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FBCBB79C-D481-4A9F-9800-F8CD0A2274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C517DE30-B65C-4008-824A-6A83F27B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76D360F8-8F24-4B9C-A013-8F2D3D2B64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DAC2EC26-099F-45EC-AE27-5CD1A6F80DE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363AF166-B6C2-4338-BA6A-C19E88E2C5F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941117DF-E7EE-4566-A928-731A4544F1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2DE099DF-5E15-4819-AA1C-EB967599FB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1985EF41-534A-42A8-92E6-451B1939E9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B9B102CE-F07D-4D5A-8FB9-144FBF30EC8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E94D01CA-E8B7-4500-800B-53E54A097C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CB1E3550-F08E-43C8-AF22-25C523E690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98657ED3-CB21-4F4A-A209-B275BE0567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246142af1b443e" /><Relationship Type="http://schemas.openxmlformats.org/officeDocument/2006/relationships/slideLayout" Target="/ppt/slideLayouts/slideLayout1.xml" Id="Rd1cd8c7a7f554a2e" /><Relationship Type="http://schemas.openxmlformats.org/officeDocument/2006/relationships/slideLayout" Target="/ppt/slideLayouts/slideLayout2.xml" Id="R5b238ba080484510" /><Relationship Type="http://schemas.openxmlformats.org/officeDocument/2006/relationships/slideLayout" Target="/ppt/slideLayouts/slideLayout3.xml" Id="Ra0e983753fcf44bd" /><Relationship Type="http://schemas.openxmlformats.org/officeDocument/2006/relationships/slideLayout" Target="/ppt/slideLayouts/slideLayout4.xml" Id="R8463e1e7f97f41d0" /><Relationship Type="http://schemas.openxmlformats.org/officeDocument/2006/relationships/slideLayout" Target="/ppt/slideLayouts/slideLayout5.xml" Id="R2a4319b518a14d2c" /><Relationship Type="http://schemas.openxmlformats.org/officeDocument/2006/relationships/slideLayout" Target="/ppt/slideLayouts/slideLayout6.xml" Id="R9faf7b130d8545da" /><Relationship Type="http://schemas.openxmlformats.org/officeDocument/2006/relationships/slideLayout" Target="/ppt/slideLayouts/slideLayout7.xml" Id="R04bbc001655349c1" /><Relationship Type="http://schemas.openxmlformats.org/officeDocument/2006/relationships/slideLayout" Target="/ppt/slideLayouts/slideLayout8.xml" Id="R1a2e354747b04cd5" /><Relationship Type="http://schemas.openxmlformats.org/officeDocument/2006/relationships/slideLayout" Target="/ppt/slideLayouts/slideLayout9.xml" Id="Rd22264ac5ba04a85" /><Relationship Type="http://schemas.openxmlformats.org/officeDocument/2006/relationships/slideLayout" Target="/ppt/slideLayouts/slideLayout10.xml" Id="R869db5860583437f" /><Relationship Type="http://schemas.openxmlformats.org/officeDocument/2006/relationships/slideLayout" Target="/ppt/slideLayouts/slideLayout11.xml" Id="R0beb51257ef34dc5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B794A583-5C89-44DB-B63E-B36B64D432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8BA947D2-B3CD-487B-8E4D-515FB9BC7D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3365C953-4C07-422A-BB56-23C837D111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cd8c7a7f554a2e"/>
    <p:sldLayoutId xmlns:r="http://schemas.openxmlformats.org/officeDocument/2006/relationships" id="2147483650" r:id="R5b238ba080484510"/>
    <p:sldLayoutId xmlns:r="http://schemas.openxmlformats.org/officeDocument/2006/relationships" id="2147483651" r:id="Ra0e983753fcf44bd"/>
    <p:sldLayoutId xmlns:r="http://schemas.openxmlformats.org/officeDocument/2006/relationships" id="2147483652" r:id="R8463e1e7f97f41d0"/>
    <p:sldLayoutId xmlns:r="http://schemas.openxmlformats.org/officeDocument/2006/relationships" id="2147483653" r:id="R2a4319b518a14d2c"/>
    <p:sldLayoutId xmlns:r="http://schemas.openxmlformats.org/officeDocument/2006/relationships" id="2147483654" r:id="R9faf7b130d8545da"/>
    <p:sldLayoutId xmlns:r="http://schemas.openxmlformats.org/officeDocument/2006/relationships" id="2147483655" r:id="R04bbc001655349c1"/>
    <p:sldLayoutId xmlns:r="http://schemas.openxmlformats.org/officeDocument/2006/relationships" id="2147483656" r:id="R1a2e354747b04cd5"/>
    <p:sldLayoutId xmlns:r="http://schemas.openxmlformats.org/officeDocument/2006/relationships" id="2147483657" r:id="Rd22264ac5ba04a85"/>
    <p:sldLayoutId xmlns:r="http://schemas.openxmlformats.org/officeDocument/2006/relationships" id="2147483658" r:id="R869db5860583437f"/>
    <p:sldLayoutId xmlns:r="http://schemas.openxmlformats.org/officeDocument/2006/relationships" id="2147483659" r:id="R0beb51257ef34dc5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b9c2421c04934" /><Relationship Type="http://schemas.openxmlformats.org/officeDocument/2006/relationships/notesSlide" Target="/ppt/notesSlides/notesSlide1.xml" Id="R5eff35dbe33b4b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71d90681e124eaa" /><Relationship Type="http://schemas.openxmlformats.org/officeDocument/2006/relationships/image" Target="/ppt/media/image.png" Id="R6b37f81c29f14a5b" /><Relationship Type="http://schemas.openxmlformats.org/officeDocument/2006/relationships/notesSlide" Target="/ppt/notesSlides/notesSlide2.xml" Id="R28891b6eb12844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e72cdf36ed242e7" /><Relationship Type="http://schemas.openxmlformats.org/officeDocument/2006/relationships/notesSlide" Target="/ppt/notesSlides/notesSlide3.xml" Id="Rbc349a4f7fcc43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964687172ed480a" /><Relationship Type="http://schemas.openxmlformats.org/officeDocument/2006/relationships/notesSlide" Target="/ppt/notesSlides/notesSlide4.xml" Id="R8eb3b32da1664a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3b331e717104a71" /><Relationship Type="http://schemas.openxmlformats.org/officeDocument/2006/relationships/image" Target="/ppt/media/image2.png" Id="R4e8abd0e733349b6" /><Relationship Type="http://schemas.openxmlformats.org/officeDocument/2006/relationships/notesSlide" Target="/ppt/notesSlides/notesSlide5.xml" Id="R9c860d6d37d644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304f25ea3ff42d9" /><Relationship Type="http://schemas.openxmlformats.org/officeDocument/2006/relationships/image" Target="/ppt/media/image3.png" Id="Re911190c0a9242b0" /><Relationship Type="http://schemas.openxmlformats.org/officeDocument/2006/relationships/notesSlide" Target="/ppt/notesSlides/notesSlide6.xml" Id="R9f35fc8c94b04d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560d1d42e154ecf" /><Relationship Type="http://schemas.openxmlformats.org/officeDocument/2006/relationships/hyperlink" Target="https://den-gode-hensikt.vercel.app/#/" TargetMode="External" Id="R4ecc75677ef24962" /><Relationship Type="http://schemas.openxmlformats.org/officeDocument/2006/relationships/notesSlide" Target="/ppt/notesSlides/notesSlide7.xml" Id="Re29a84195bc241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c73a08cd04f75" /><Relationship Type="http://schemas.openxmlformats.org/officeDocument/2006/relationships/notesSlide" Target="/ppt/notesSlides/notesSlide8.xml" Id="R1eb52a5c93fa49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a1b465053694d0c" /><Relationship Type="http://schemas.openxmlformats.org/officeDocument/2006/relationships/notesSlide" Target="/ppt/notesSlides/notesSlide9.xml" Id="R3337d05f58c24a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d25ec5bf1a04883" /><Relationship Type="http://schemas.openxmlformats.org/officeDocument/2006/relationships/notesSlide" Target="/ppt/notesSlides/notesSlide10.xml" Id="Ra3a9e49d369c45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b18ff08b8d342ab" /><Relationship Type="http://schemas.openxmlformats.org/officeDocument/2006/relationships/notesSlide" Target="/ppt/notesSlides/notesSlide11.xml" Id="R9713180f274642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5e70919ea414092" /><Relationship Type="http://schemas.openxmlformats.org/officeDocument/2006/relationships/notesSlide" Target="/ppt/notesSlides/notesSlide12.xml" Id="R849c2d9acfb646b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3C0B4DB7-AA03-4B8B-817A-EB4421C610B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DEN GODE HENSIKT</a:t>
            </a:r>
            <a:endParaRPr/>
          </a:p>
        </p:txBody>
      </p:sp>
      <p:sp>
        <p:nvSp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00B2CB52-7C2F-457A-AA6A-630ADA06179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138171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Google Shape;60;p14">
            <a:extLst xmlns:a="http://schemas.openxmlformats.org/drawingml/2006/main">
              <a:ext uri="{FF2B5EF4-FFF2-40B4-BE49-F238E27FC236}">
                <a16:creationId xmlns:a16="http://schemas.microsoft.com/office/drawing/2014/main" id="{5A6F810A-CBC2-4F34-AB21-E4F3C3D148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>En aksjeklubb</a:t>
            </a:r>
            <a:endParaRPr/>
          </a:p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>Startbeløp + månedlige fradrag</a:t>
            </a:r>
            <a:endParaRPr/>
          </a:p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>Et holdingselskap/AS holder pengene (“Den Gode Hensikt Aksjeklubb AS”)</a:t>
            </a:r>
            <a:endParaRPr/>
          </a:p>
          <a:p xmlns:a="http://schemas.openxmlformats.org/drawingml/2006/main">
            <a:pPr marL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>
            <a:extLst xmlns:a="http://schemas.openxmlformats.org/drawingml/2006/main">
              <a:ext uri="{FF2B5EF4-FFF2-40B4-BE49-F238E27FC236}">
                <a16:creationId xmlns:a16="http://schemas.microsoft.com/office/drawing/2014/main" id="{466EB323-E1A9-4077-AD2D-1F6DF3DE6B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Hva? </a:t>
            </a:r>
            <a:endParaRPr/>
          </a:p>
        </p:txBody>
      </p:sp>
      <p:pic>
        <p:nvPicPr>
          <p:cNvPr id="65" name="Google Shape;62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7f81c29f14a5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7912" y="2274625"/>
            <a:ext cx="7568176" cy="2024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2128676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15">
            <a:extLst xmlns:a="http://schemas.openxmlformats.org/drawingml/2006/main">
              <a:ext uri="{FF2B5EF4-FFF2-40B4-BE49-F238E27FC236}">
                <a16:creationId xmlns:a16="http://schemas.microsoft.com/office/drawing/2014/main" id="{5D0DEE4C-A0A0-41ED-B8D8-3B4D97E68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Hvem?</a:t>
            </a:r>
            <a:endParaRPr/>
          </a:p>
        </p:txBody>
      </p:sp>
      <p:sp>
        <p:nvSpPr>
          <p:cNvPr id="68" name="Google Shape;68;p15">
            <a:extLst xmlns:a="http://schemas.openxmlformats.org/drawingml/2006/main">
              <a:ext uri="{FF2B5EF4-FFF2-40B4-BE49-F238E27FC236}">
                <a16:creationId xmlns:a16="http://schemas.microsoft.com/office/drawing/2014/main" id="{A3C2C400-A31C-4620-AE73-E49ACFABB5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25000" lnSpcReduction="20000"/>
          </a:bodyPr>
          <a:lstStyle xmlns:a="http://schemas.openxmlformats.org/drawingml/2006/main"/>
          <a:p xmlns:a="http://schemas.openxmlformats.org/drawingml/2006/main">
            <a:pPr marL="457200" lvl="0" indent="-327025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sz="6200"/>
              <a:t>SOGBMG</a:t>
            </a:r>
            <a:endParaRPr sz="6200"/>
          </a:p>
          <a:p xmlns:a="http://schemas.openxmlformats.org/drawingml/2006/main">
            <a:pPr marL="457200" lvl="0" indent="-327025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sz="6200"/>
              <a:t>Medlemskap er høyst frivillig, les vedtekter herunder “Medlemskap”:</a:t>
            </a:r>
            <a:endParaRPr/>
          </a:p>
          <a:p xmlns:a="http://schemas.openxmlformats.org/drawingml/2006/main">
            <a:pPr marL="0" lvl="0" indent="0" algn="l">
              <a:lnSpc>
                <a:spcPct val="18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sz="5835">
                <a:solidFill>
                  <a:schemeClr val="dk1"/>
                </a:solidFill>
              </a:rPr>
              <a:t>Medlemskap i DGHA krever innbetaling av en gitt sum til foreningens investeringsfond. Summen bestemmes av Hovedstyret (HS) og er lik for alle medlemmer.</a:t>
            </a:r>
            <a:endParaRPr sz="5835">
              <a:solidFill>
                <a:schemeClr val="dk1"/>
              </a:solidFill>
            </a:endParaRPr>
          </a:p>
          <a:p xmlns:a="http://schemas.openxmlformats.org/drawingml/2006/main">
            <a:pPr marL="0" lvl="0" indent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sz="5835">
                <a:solidFill>
                  <a:srgbClr val="6B7F99"/>
                </a:solidFill>
                <a:highlight>
                  <a:srgbClr val="0B0F1A"/>
                </a:highlight>
              </a:rPr>
              <a:t>Nye medlemmer</a:t>
            </a:r>
            <a:endParaRPr sz="5835">
              <a:solidFill>
                <a:srgbClr val="6B7F99"/>
              </a:solidFill>
              <a:highlight>
                <a:srgbClr val="0B0F1A"/>
              </a:highlight>
            </a:endParaRPr>
          </a:p>
          <a:p xmlns:a="http://schemas.openxmlformats.org/drawingml/2006/main">
            <a:pPr marL="0" lvl="0" indent="0" algn="l">
              <a:lnSpc>
                <a:spcPct val="18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sz="5835">
                <a:solidFill>
                  <a:schemeClr val="dk1"/>
                </a:solidFill>
              </a:rPr>
              <a:t>Alle nye medlemmer må ved Generalvorsamlingen stemmes inn, beslutningen krever enstemmighet. Nye medlemmer anses umiddelbart som likeverdige Herrer.</a:t>
            </a:r>
            <a:endParaRPr sz="5835">
              <a:solidFill>
                <a:schemeClr val="dk1"/>
              </a:solidFill>
            </a:endParaRPr>
          </a:p>
          <a:p xmlns:a="http://schemas.openxmlformats.org/drawingml/2006/main">
            <a:pPr marL="0" lvl="0" indent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sz="5835">
                <a:solidFill>
                  <a:srgbClr val="6B7F99"/>
                </a:solidFill>
                <a:highlight>
                  <a:srgbClr val="0B0F1A"/>
                </a:highlight>
              </a:rPr>
              <a:t>Avskjeder</a:t>
            </a:r>
            <a:endParaRPr sz="5835">
              <a:solidFill>
                <a:srgbClr val="6B7F99"/>
              </a:solidFill>
              <a:highlight>
                <a:srgbClr val="0B0F1A"/>
              </a:highlight>
            </a:endParaRPr>
          </a:p>
          <a:p xmlns:a="http://schemas.openxmlformats.org/drawingml/2006/main">
            <a:pPr marL="0" lvl="0" indent="0" algn="l">
              <a:lnSpc>
                <a:spcPct val="18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sz="5835">
                <a:solidFill>
                  <a:schemeClr val="dk1"/>
                </a:solidFill>
              </a:rPr>
              <a:t>Dersom et medlem av DGHA ønsker sitt medlemskap annullert, og er helt sikker i sin sak på dette, skal medlemmets andel av fondet utbetales til medlemmet som avskjediges.</a:t>
            </a:r>
            <a:endParaRPr sz="5835">
              <a:solidFill>
                <a:schemeClr val="dk1"/>
              </a:solidFill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0039231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Google Shape;73;p16">
            <a:extLst xmlns:a="http://schemas.openxmlformats.org/drawingml/2006/main">
              <a:ext uri="{FF2B5EF4-FFF2-40B4-BE49-F238E27FC236}">
                <a16:creationId xmlns:a16="http://schemas.microsoft.com/office/drawing/2014/main" id="{60C568BB-79E8-40A2-9132-492A25A59E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Hvorfor?</a:t>
            </a:r>
            <a:endParaRPr/>
          </a:p>
        </p:txBody>
      </p:sp>
      <p:sp>
        <p:nvSpPr>
          <p:cNvPr id="74" name="Google Shape;74;p16">
            <a:extLst xmlns:a="http://schemas.openxmlformats.org/drawingml/2006/main">
              <a:ext uri="{FF2B5EF4-FFF2-40B4-BE49-F238E27FC236}">
                <a16:creationId xmlns:a16="http://schemas.microsoft.com/office/drawing/2014/main" id="{CD531C38-29D5-4717-BDDF-9B25B71B07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>DGH vedtekter, herunder “Foreningens formål”:</a:t>
            </a:r>
            <a:endParaRPr/>
          </a:p>
          <a:p xmlns:a="http://schemas.openxmlformats.org/drawingml/2006/main">
            <a:pPr marL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2000">
                <a:solidFill>
                  <a:schemeClr val="dk1"/>
                </a:solidFill>
              </a:rPr>
              <a:t>“</a:t>
            </a:r>
            <a:r>
              <a:rPr sz="1500">
                <a:solidFill>
                  <a:schemeClr val="dk1"/>
                </a:solidFill>
              </a:rPr>
              <a:t>Den Gode Hensikt Aksjeklubb (herved omtalt DGHA) søker å bringe den gode hensikt for de ærede medlemmer, der hensikten er bevaring av sosial profil samt hyggelig samvær</a:t>
            </a:r>
            <a:r>
              <a:rPr sz="1500">
                <a:solidFill>
                  <a:schemeClr val="dk1"/>
                </a:solidFill>
              </a:rPr>
              <a:t>”</a:t>
            </a:r>
            <a:endParaRPr sz="1500">
              <a:solidFill>
                <a:schemeClr val="dk1"/>
              </a:solidFill>
            </a:endParaRPr>
          </a:p>
          <a:p xmlns:a="http://schemas.openxmlformats.org/drawingml/2006/main">
            <a:pPr marL="457200" lvl="0" indent="-34290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t>En arena for å samles</a:t>
            </a:r>
            <a:endParaRPr/>
          </a:p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>Overskudd/avkastning → Sosialt hygge</a:t>
            </a:r>
            <a:endParaRPr/>
          </a:p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>Langsiktige mål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4900212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Google Shape;79;p17">
            <a:extLst xmlns:a="http://schemas.openxmlformats.org/drawingml/2006/main">
              <a:ext uri="{FF2B5EF4-FFF2-40B4-BE49-F238E27FC236}">
                <a16:creationId xmlns:a16="http://schemas.microsoft.com/office/drawing/2014/main" id="{B08ED1D7-4476-4B02-8371-AA6560C909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Eksempel 1</a:t>
            </a:r>
            <a:endParaRPr/>
          </a:p>
        </p:txBody>
      </p:sp>
      <p:sp>
        <p:nvSpPr>
          <p:cNvPr id="80" name="Google Shape;80;p17">
            <a:extLst xmlns:a="http://schemas.openxmlformats.org/drawingml/2006/main">
              <a:ext uri="{FF2B5EF4-FFF2-40B4-BE49-F238E27FC236}">
                <a16:creationId xmlns:a16="http://schemas.microsoft.com/office/drawing/2014/main" id="{4D2CD569-98DF-4E1B-8C92-A4CF1BEC19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5757600" cy="380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lnSpcReduction="20000"/>
          </a:bodyPr>
          <a:lstStyle xmlns:a="http://schemas.openxmlformats.org/drawingml/2006/main"/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>Bjørn Willy Robstad</a:t>
            </a:r>
            <a:endParaRPr/>
          </a:p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>“Aksjeklubben” opprettet i studietid</a:t>
            </a:r>
            <a:endParaRPr/>
          </a:p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>Startinnskudd + månedlige innskudd</a:t>
            </a:r>
            <a:endParaRPr/>
          </a:p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>Avkastning brukes til</a:t>
            </a:r>
            <a:endParaRPr/>
          </a:p>
          <a:p xmlns:a="http://schemas.openxmlformats.org/drawingml/2006/main">
            <a:pPr marL="914400" lvl="1" indent="-31750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>Generalforsamling </a:t>
            </a:r>
            <a:endParaRPr/>
          </a:p>
          <a:p xmlns:a="http://schemas.openxmlformats.org/drawingml/2006/main">
            <a:pPr marL="914400" lvl="1" indent="-31750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>Rakfisklag</a:t>
            </a:r>
            <a:endParaRPr/>
          </a:p>
          <a:p xmlns:a="http://schemas.openxmlformats.org/drawingml/2006/main">
            <a:pPr marL="914400" lvl="1" indent="-31750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>Sporadiske turer</a:t>
            </a:r>
            <a:endParaRPr/>
          </a:p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>Portefølje utelukkende i fond</a:t>
            </a:r>
            <a:endParaRPr/>
          </a:p>
          <a:p xmlns:a="http://schemas.openxmlformats.org/drawingml/2006/main">
            <a:pPr marL="914400" lvl="1" indent="-31750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>“Med alle gutta i samfunnskritiske stillinger finnes det ikke lenger noen aksjer som ikke kan få oss 15 år i buret grunnet innsidehandel (wallah)” (parafrasert)</a:t>
            </a:r>
            <a:endParaRPr/>
          </a:p>
          <a:p xmlns:a="http://schemas.openxmlformats.org/drawingml/2006/main">
            <a:pPr marL="914400" lvl="1" indent="-31750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>“Sosialt hygge er ikke nok til å samle gutta, det må økonomiske insentiver til” (faktisk ikke parafrasert)</a:t>
            </a:r>
            <a:endParaRPr/>
          </a:p>
          <a:p xmlns:a="http://schemas.openxmlformats.org/drawingml/2006/main">
            <a:pPr marL="0" lv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1;p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8abd0e733349b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0744" y="1152474"/>
            <a:ext cx="2993258" cy="39910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9193072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Google Shape;86;p18">
            <a:extLst xmlns:a="http://schemas.openxmlformats.org/drawingml/2006/main">
              <a:ext uri="{FF2B5EF4-FFF2-40B4-BE49-F238E27FC236}">
                <a16:creationId xmlns:a16="http://schemas.microsoft.com/office/drawing/2014/main" id="{39D9AAF8-E159-48DE-BE31-81B49FBFF1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Eksempel 2</a:t>
            </a:r>
            <a:endParaRPr/>
          </a:p>
        </p:txBody>
      </p:sp>
      <p:sp>
        <p:nvSpPr>
          <p:cNvPr id="87" name="Google Shape;87;p18">
            <a:extLst xmlns:a="http://schemas.openxmlformats.org/drawingml/2006/main">
              <a:ext uri="{FF2B5EF4-FFF2-40B4-BE49-F238E27FC236}">
                <a16:creationId xmlns:a16="http://schemas.microsoft.com/office/drawing/2014/main" id="{EEA58A6E-CED0-4FEF-A47F-58A5781030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51918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>Sigurd Rugsland </a:t>
            </a:r>
            <a:endParaRPr/>
          </a:p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>Aksjeklubben opprettet i yngre alder</a:t>
            </a:r>
            <a:endParaRPr/>
          </a:p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>Startinnskudd + månedlige innskudd</a:t>
            </a:r>
            <a:endParaRPr/>
          </a:p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>Overskudd/avkastning går til</a:t>
            </a:r>
            <a:endParaRPr/>
          </a:p>
          <a:p xmlns:a="http://schemas.openxmlformats.org/drawingml/2006/main">
            <a:pPr marL="914400" lvl="1" indent="-31750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>Kvartalsmøter</a:t>
            </a:r>
            <a:endParaRPr/>
          </a:p>
          <a:p xmlns:a="http://schemas.openxmlformats.org/drawingml/2006/main">
            <a:pPr marL="914400" lvl="1" indent="-31750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>Årlig blåtur</a:t>
            </a:r>
            <a:endParaRPr/>
          </a:p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>Portefølje i aksjer, utbytte/høy -og lavrisiko</a:t>
            </a:r>
            <a:endParaRPr/>
          </a:p>
          <a:p xmlns:a="http://schemas.openxmlformats.org/drawingml/2006/main">
            <a:pPr marL="914400" lvl="1" indent="-31750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>“Krig går aldri av moten” (parafrasert, muligens også bare oppfunnet)</a:t>
            </a:r>
            <a:endParaRPr/>
          </a:p>
        </p:txBody>
      </p:sp>
      <p:pic>
        <p:nvPicPr>
          <p:cNvPr id="91" name="Google Shape;88;p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11190c0a9242b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27600" y="1727100"/>
            <a:ext cx="3416400" cy="3416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3570995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Google Shape;93;p19">
            <a:extLst xmlns:a="http://schemas.openxmlformats.org/drawingml/2006/main">
              <a:ext uri="{FF2B5EF4-FFF2-40B4-BE49-F238E27FC236}">
                <a16:creationId xmlns:a16="http://schemas.microsoft.com/office/drawing/2014/main" id="{55EC5E6E-1D74-4E9F-A0DC-ABDB1DBBD3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La oss ta en titt</a:t>
            </a:r>
            <a:endParaRPr/>
          </a:p>
        </p:txBody>
      </p:sp>
      <p:sp>
        <p:nvSpPr>
          <p:cNvPr id="94" name="Google Shape;94;p19">
            <a:extLst xmlns:a="http://schemas.openxmlformats.org/drawingml/2006/main">
              <a:ext uri="{FF2B5EF4-FFF2-40B4-BE49-F238E27FC236}">
                <a16:creationId xmlns:a16="http://schemas.microsoft.com/office/drawing/2014/main" id="{E0E49500-E7E2-45A4-851D-8028DDBCE8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rPr u="sng">
                <a:solidFill>
                  <a:schemeClr val="hlink"/>
                </a:solidFill>
                <a:hlinkClick xmlns:r="http://schemas.openxmlformats.org/officeDocument/2006/relationships" r:id="R4ecc75677ef24962"/>
              </a:rPr>
              <a:t>https://den-gode-hensikt.vercel.app/#/</a:t>
            </a:r>
            <a:r>
              <a:t>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983284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Google Shape;99;p20">
            <a:extLst xmlns:a="http://schemas.openxmlformats.org/drawingml/2006/main">
              <a:ext uri="{FF2B5EF4-FFF2-40B4-BE49-F238E27FC236}">
                <a16:creationId xmlns:a16="http://schemas.microsoft.com/office/drawing/2014/main" id="{F82319CC-7851-478C-ACEF-AD4E43CA129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Del 2: Fra kødd til alvor</a:t>
            </a:r>
            <a:endParaRPr/>
          </a:p>
        </p:txBody>
      </p:sp>
      <p:sp>
        <p:nvSpPr>
          <p:cNvPr id="100" name="Google Shape;100;p20">
            <a:extLst xmlns:a="http://schemas.openxmlformats.org/drawingml/2006/main">
              <a:ext uri="{FF2B5EF4-FFF2-40B4-BE49-F238E27FC236}">
                <a16:creationId xmlns:a16="http://schemas.microsoft.com/office/drawing/2014/main" id="{942DF57E-906C-4D4B-8172-0EBCA24F0FB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8796008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Google Shape;105;p21">
            <a:extLst xmlns:a="http://schemas.openxmlformats.org/drawingml/2006/main">
              <a:ext uri="{FF2B5EF4-FFF2-40B4-BE49-F238E27FC236}">
                <a16:creationId xmlns:a16="http://schemas.microsoft.com/office/drawing/2014/main" id="{8B506057-F949-4949-957A-8B9CE9FF6E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Risiko</a:t>
            </a:r>
            <a:endParaRPr/>
          </a:p>
        </p:txBody>
      </p:sp>
      <p:sp>
        <p:nvSpPr>
          <p:cNvPr id="106" name="Google Shape;106;p21">
            <a:extLst xmlns:a="http://schemas.openxmlformats.org/drawingml/2006/main">
              <a:ext uri="{FF2B5EF4-FFF2-40B4-BE49-F238E27FC236}">
                <a16:creationId xmlns:a16="http://schemas.microsoft.com/office/drawing/2014/main" id="{9ED0EA06-1EF1-4A20-A13C-F9CB0BA0D1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>Alltid en reell risiko ved investeringer</a:t>
            </a:r>
            <a:endParaRPr/>
          </a:p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>Fond/aksjer?</a:t>
            </a:r>
            <a:endParaRPr/>
          </a:p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>Forslag til plan </a:t>
            </a:r>
            <a:endParaRPr/>
          </a:p>
          <a:p xmlns:a="http://schemas.openxmlformats.org/drawingml/2006/main">
            <a:pPr marL="914400" lvl="1" indent="-31750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>15 000 kr startinnskudd</a:t>
            </a:r>
            <a:endParaRPr/>
          </a:p>
          <a:p xmlns:a="http://schemas.openxmlformats.org/drawingml/2006/main">
            <a:pPr marL="914400" lvl="1" indent="-31750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>200 kr månedlig AvtaleGiro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3653716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1" name="Google Shape;111;p22">
            <a:extLst xmlns:a="http://schemas.openxmlformats.org/drawingml/2006/main">
              <a:ext uri="{FF2B5EF4-FFF2-40B4-BE49-F238E27FC236}">
                <a16:creationId xmlns:a16="http://schemas.microsoft.com/office/drawing/2014/main" id="{EF8DED0E-1E30-4AE5-8FC9-E649B6C9CF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Roller/generalforsamling </a:t>
            </a:r>
            <a:endParaRPr/>
          </a:p>
        </p:txBody>
      </p:sp>
      <p:sp>
        <p:nvSpPr>
          <p:cNvPr id="112" name="Google Shape;112;p22">
            <a:extLst xmlns:a="http://schemas.openxmlformats.org/drawingml/2006/main">
              <a:ext uri="{FF2B5EF4-FFF2-40B4-BE49-F238E27FC236}">
                <a16:creationId xmlns:a16="http://schemas.microsoft.com/office/drawing/2014/main" id="{AEA21504-27DA-4645-88C2-9053CD3B86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>Leder</a:t>
            </a:r>
            <a:endParaRPr/>
          </a:p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>Økonomiansvarlig(e)</a:t>
            </a:r>
            <a:endParaRPr/>
          </a:p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>Sosialansvarlig(e)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567075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7" name="Google Shape;117;p23">
            <a:extLst xmlns:a="http://schemas.openxmlformats.org/drawingml/2006/main">
              <a:ext uri="{FF2B5EF4-FFF2-40B4-BE49-F238E27FC236}">
                <a16:creationId xmlns:a16="http://schemas.microsoft.com/office/drawing/2014/main" id="{7F7F28F7-4841-47CB-A1ED-DB89CBCD1B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Et produkt av alles innsats</a:t>
            </a:r>
            <a:endParaRPr/>
          </a:p>
        </p:txBody>
      </p:sp>
      <p:sp>
        <p:nvSpPr>
          <p:cNvPr id="118" name="Google Shape;118;p23">
            <a:extLst xmlns:a="http://schemas.openxmlformats.org/drawingml/2006/main">
              <a:ext uri="{FF2B5EF4-FFF2-40B4-BE49-F238E27FC236}">
                <a16:creationId xmlns:a16="http://schemas.microsoft.com/office/drawing/2014/main" id="{009B0985-994B-40FE-838C-0A585DBC8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>Jeg er initiativtaker, alle medlemmer er likeverdige</a:t>
            </a:r>
            <a:endParaRPr/>
          </a:p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>Mentalt og fysisk eierskap</a:t>
            </a:r>
            <a:endParaRPr/>
          </a:p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>Medlemskap er høyst frivillig, men sterkt anbefalt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52725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Google Shape;123;p24">
            <a:extLst xmlns:a="http://schemas.openxmlformats.org/drawingml/2006/main">
              <a:ext uri="{FF2B5EF4-FFF2-40B4-BE49-F238E27FC236}">
                <a16:creationId xmlns:a16="http://schemas.microsoft.com/office/drawing/2014/main" id="{2A7DB220-532B-4648-9948-D1F2024D69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Veien videre</a:t>
            </a:r>
            <a:endParaRPr/>
          </a:p>
        </p:txBody>
      </p:sp>
      <p:sp>
        <p:nvSpPr>
          <p:cNvPr id="124" name="Google Shape;124;p24">
            <a:extLst xmlns:a="http://schemas.openxmlformats.org/drawingml/2006/main">
              <a:ext uri="{FF2B5EF4-FFF2-40B4-BE49-F238E27FC236}">
                <a16:creationId xmlns:a16="http://schemas.microsoft.com/office/drawing/2014/main" id="{19DE0D77-E1BB-451B-85BC-B654E5C8D3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>Alt er good og klart til å “launche” januar 2027</a:t>
            </a:r>
            <a:endParaRPr/>
          </a:p>
          <a:p xmlns:a="http://schemas.openxmlformats.org/drawingml/2006/main">
            <a:pPr marL="914400" lvl="1" indent="-31750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>Medlemmer</a:t>
            </a:r>
            <a:endParaRPr/>
          </a:p>
          <a:p xmlns:a="http://schemas.openxmlformats.org/drawingml/2006/main">
            <a:pPr marL="914400" lvl="1" indent="-31750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>Betaling </a:t>
            </a:r>
            <a:endParaRPr/>
          </a:p>
          <a:p xmlns:a="http://schemas.openxmlformats.org/drawingml/2006/main">
            <a:pPr marL="914400" lvl="1" indent="-31750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>Vedtekter</a:t>
            </a:r>
            <a:endParaRPr/>
          </a:p>
          <a:p xmlns:a="http://schemas.openxmlformats.org/drawingml/2006/main">
            <a:pPr marL="914400" lvl="1" indent="-31750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>BrReg opprette AS</a:t>
            </a:r>
            <a:endParaRPr/>
          </a:p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>VIKTIG: Dette er bevaring av våre gode relasjoner, ikke ekskludering av andre vennskap</a:t>
            </a:r>
            <a:endParaRPr/>
          </a:p>
          <a:p xmlns:a="http://schemas.openxmlformats.org/drawingml/2006/main">
            <a:pPr marL="0" lv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7289706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2026-08-08T09:20:00.7570000Z</dcterms:created>
  <dcterms:modified xsi:type="dcterms:W3CDTF">2026-08-08T09:20:00.7570000Z</dcterms:modified>
</coreProperties>
</file>